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A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91295" y="-1828800"/>
            <a:ext cx="7315200" cy="7315200"/>
          </a:xfrm>
          <a:prstGeom prst="ellipse">
            <a:avLst/>
          </a:prstGeom>
          <a:solidFill>
            <a:srgbClr val="0A3A25"/>
          </a:solidFill>
          <a:ln w="12700">
            <a:solidFill>
              <a:srgbClr val="0A3A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AYUZEE AI  ·  STRATEGIC ROADMAP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Ayuzee AI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Super App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640080" y="384048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E8D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#1 AYUSH Intelligence Platform.</a:t>
            </a:r>
            <a:endParaRPr lang="en-US" sz="2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E8D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Ayurveda · Homeopathy · Siddha · Unani · Yoga.</a:t>
            </a:r>
            <a:endParaRPr lang="en-US" sz="2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E8D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1 billion patients. Powered by AI.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5486400"/>
            <a:ext cx="1371600" cy="36576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5623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PHASES  ·  68 MODULES  ·  2026 → 2028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6126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8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Ayuzee Product &amp; Strategy  · 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3A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Vision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097280" cy="45720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630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#1 AYUSH Intelligence Platform — Ayurveda, Homeopathy, Siddha, Unani, Yoga &amp; Naturopathy in one premium ecosystem.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Mission. </a:t>
            </a:r>
            <a:pPr indent="0" marL="0">
              <a:buNone/>
            </a:pPr>
            <a:r>
              <a:rPr lang="en-US" sz="1600" dirty="0">
                <a:solidFill>
                  <a:srgbClr val="0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world's most trusted AI-powered AYUSH super app connecting patients, doctors, therapists, hospitals, students and the global wellness economy.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4747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Star. </a:t>
            </a:r>
            <a:pPr indent="0" marL="0">
              <a:buNone/>
            </a:pPr>
            <a:r>
              <a:rPr lang="en-US" sz="1600" dirty="0">
                <a:solidFill>
                  <a:srgbClr val="0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million treated patients, 1 lakh verified practitioners, ₹1000 Cr ARR by 2028.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09448" y="457200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5DF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9448" y="4572000"/>
            <a:ext cx="2606040" cy="54864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6608" y="47091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Practitioners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6608" y="50749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3A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1,00,000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46608" y="58064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10,000   ·   2027 40,000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98368" y="457200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5DFC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98368" y="4572000"/>
            <a:ext cx="2606040" cy="54864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35528" y="47091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Patients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35528" y="50749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3A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1,00,00,000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535528" y="58064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2,00,000   ·   2027 20,00,000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87288" y="457200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5DFC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87288" y="4572000"/>
            <a:ext cx="2606040" cy="54864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24448" y="47091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Served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24448" y="50749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3A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1,000+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324448" y="58064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50   ·   2027 300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976208" y="457200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5DFC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76208" y="4572000"/>
            <a:ext cx="2606040" cy="54864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13368" y="47091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(₹ Cr)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13368" y="50749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3A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1,000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9113368" y="58064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15   ·   2027 150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AYUZEE AI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991295" y="6537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  · 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3A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9-Phase Timeline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097280" cy="45720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5486400"/>
                <a:gridCol w="3108960"/>
                <a:gridCol w="18288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1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1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1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13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9A2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B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Foundation (Live)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6B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Q4 2024 — Q2 2026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51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SHIPPED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9A2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B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Homeopathy AI Suite (Live)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6B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 2026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51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SHIPPED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9A2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B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Clinical Intelligence Layer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6B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 2026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9A2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9A2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B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ABDM &amp; Govt Integration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6B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Q4 2026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9A2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B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Hospital Management (HIMS)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6B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2027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9A2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B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AYUSH Marketplace &amp; D2C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6B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 2027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9A2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B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Education &amp; Research Cloud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6B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 2027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9A2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B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Expansion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6B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Q4 2027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9A2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B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Ayuzee AI Super-Intelligence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6B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A4F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537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AYUZEE AI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991295" y="6537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  · 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 ·  SHIPPED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A3A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 (Live)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2024 — Q2 2026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1097280" cy="45720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2402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multi-portal platform, doctor/patient/admin/therapist/venue/student apps, Razorpay, Lovable Cloud backend.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5440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DF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291840"/>
            <a:ext cx="73152" cy="548640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2918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App + Onboarding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680" y="32918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3291840"/>
            <a:ext cx="5440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DFC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3291840"/>
            <a:ext cx="73152" cy="548640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32918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Portal (HMS, EMR, Prescriptions)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875520" y="32918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5440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DFC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977640"/>
            <a:ext cx="73152" cy="548640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9776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Therapist &amp; Venue Portals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97680" y="39776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3977640"/>
            <a:ext cx="5440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DFC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26480" y="3977640"/>
            <a:ext cx="73152" cy="548640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39776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Learning Hub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875520" y="39776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663440"/>
            <a:ext cx="5440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DFC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663440"/>
            <a:ext cx="73152" cy="548640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6634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Super Dashboard (28 modules)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297680" y="46634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26480" y="4663440"/>
            <a:ext cx="5440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DFC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26480" y="4663440"/>
            <a:ext cx="73152" cy="548640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55080" y="46634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Payments + Wallet + Referrals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875520" y="46634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5349240"/>
            <a:ext cx="5440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DFC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8640" y="5349240"/>
            <a:ext cx="73152" cy="548640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53492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Prakriti AI Diagnosis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297680" y="53492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26480" y="5349240"/>
            <a:ext cx="5440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DFC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26480" y="5349240"/>
            <a:ext cx="73152" cy="548640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55080" y="53492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Panchakarma Booking Engine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875520" y="53492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48640" y="6035040"/>
            <a:ext cx="5440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DFC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48640" y="6035040"/>
            <a:ext cx="73152" cy="548640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7240" y="60350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Store + Bulk Catalog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297680" y="60350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126480" y="6035040"/>
            <a:ext cx="5440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DFC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126480" y="6035040"/>
            <a:ext cx="73152" cy="548640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55080" y="60350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ATMRI Charity Model 3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9875520" y="60350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57200" y="6537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AYUZEE AI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991295" y="6537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  · 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 ·  SHIPPED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A3A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Homeopathy AI Suite (Live)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1097280" cy="45720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2402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Homeopathy Repertory + Materia Medica AI with 1000 rubrics and 200 remedies.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5440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DF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291840"/>
            <a:ext cx="73152" cy="548640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2918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Taking (13-section EMR)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680" y="32918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3291840"/>
            <a:ext cx="5440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DFC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3291840"/>
            <a:ext cx="73152" cy="548640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32918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Repertory (1000 rubrics, weighted ranking)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875520" y="32918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5440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DFC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977640"/>
            <a:ext cx="73152" cy="548640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9776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 Medica (200 remedies)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97680" y="39776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3977640"/>
            <a:ext cx="5440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DFC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26480" y="3977640"/>
            <a:ext cx="73152" cy="548640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39776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Rubric Finder (NLP)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875520" y="39776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663440"/>
            <a:ext cx="5440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DFC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663440"/>
            <a:ext cx="73152" cy="548640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6634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Remedy Comparison Engine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297680" y="46634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26480" y="4663440"/>
            <a:ext cx="5440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DFC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26480" y="4663440"/>
            <a:ext cx="73152" cy="548640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55080" y="46634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Cases &amp; Follow-ups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875520" y="46634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5349240"/>
            <a:ext cx="5440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DFC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8640" y="5349240"/>
            <a:ext cx="73152" cy="548640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53492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PDF Export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297680" y="53492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6537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AYUZEE AI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991295" y="6537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  · 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 ·  IN PROGRESS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A3A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 Intelligence Layer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1097280" cy="45720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2402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co-pilot across every consultation — differentials, drug interactions, classical references, voice scribe.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5440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DF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291840"/>
            <a:ext cx="73152" cy="548640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2918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Clinical Decision Support (CDS)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680" y="32918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3291840"/>
            <a:ext cx="5440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DFC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3291840"/>
            <a:ext cx="73152" cy="548640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32918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Voice Scribe (multilingual)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875520" y="32918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5440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DFC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977640"/>
            <a:ext cx="73152" cy="548640"/>
          </a:xfrm>
          <a:prstGeom prst="rect">
            <a:avLst/>
          </a:prstGeom>
          <a:solidFill>
            <a:srgbClr val="3A506B"/>
          </a:solidFill>
          <a:ln w="12700">
            <a:solidFill>
              <a:srgbClr val="3A50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9776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Drug-Herb Interaction Checker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97680" y="39776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3977640"/>
            <a:ext cx="5440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DFC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26480" y="3977640"/>
            <a:ext cx="73152" cy="548640"/>
          </a:xfrm>
          <a:prstGeom prst="rect">
            <a:avLst/>
          </a:prstGeom>
          <a:solidFill>
            <a:srgbClr val="3A506B"/>
          </a:solidFill>
          <a:ln w="12700">
            <a:solidFill>
              <a:srgbClr val="3A50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39776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Reference Engine (Charaka, Sushruta)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875520" y="39776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663440"/>
            <a:ext cx="5440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DFC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663440"/>
            <a:ext cx="73152" cy="548640"/>
          </a:xfrm>
          <a:prstGeom prst="rect">
            <a:avLst/>
          </a:prstGeom>
          <a:solidFill>
            <a:srgbClr val="3A506B"/>
          </a:solidFill>
          <a:ln w="12700">
            <a:solidFill>
              <a:srgbClr val="3A50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6634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&amp; Tongue AI Diagnosis (image)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297680" y="46634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26480" y="4663440"/>
            <a:ext cx="5440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DFC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26480" y="4663440"/>
            <a:ext cx="73152" cy="548640"/>
          </a:xfrm>
          <a:prstGeom prst="rect">
            <a:avLst/>
          </a:prstGeom>
          <a:solidFill>
            <a:srgbClr val="3A506B"/>
          </a:solidFill>
          <a:ln w="12700">
            <a:solidFill>
              <a:srgbClr val="3A50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55080" y="46634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Triage Bot for Patients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875520" y="46634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5349240"/>
            <a:ext cx="5440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DFC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8640" y="5349240"/>
            <a:ext cx="73152" cy="548640"/>
          </a:xfrm>
          <a:prstGeom prst="rect">
            <a:avLst/>
          </a:prstGeom>
          <a:solidFill>
            <a:srgbClr val="3A506B"/>
          </a:solidFill>
          <a:ln w="12700">
            <a:solidFill>
              <a:srgbClr val="3A50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53492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Report OCR + Interpretation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297680" y="53492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6537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AYUZEE AI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991295" y="6537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  · 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  ·  PLANNED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A3A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ABDM &amp; Govt Integration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1097280" cy="45720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2402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Health Stack compliance — ABHA, FHIR, e-Sanjeevani interoperability.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5440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DF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291840"/>
            <a:ext cx="73152" cy="548640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2918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ABHA Linking &amp; Health Records Push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680" y="32918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3291840"/>
            <a:ext cx="5440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DFC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3291840"/>
            <a:ext cx="73152" cy="548640"/>
          </a:xfrm>
          <a:prstGeom prst="rect">
            <a:avLst/>
          </a:prstGeom>
          <a:solidFill>
            <a:srgbClr val="3A506B"/>
          </a:solidFill>
          <a:ln w="12700">
            <a:solidFill>
              <a:srgbClr val="3A50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32918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FHIR R4 Bundle Export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875520" y="32918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5440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DFC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977640"/>
            <a:ext cx="73152" cy="548640"/>
          </a:xfrm>
          <a:prstGeom prst="rect">
            <a:avLst/>
          </a:prstGeom>
          <a:solidFill>
            <a:srgbClr val="3A506B"/>
          </a:solidFill>
          <a:ln w="12700">
            <a:solidFill>
              <a:srgbClr val="3A50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9776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NDHM Consent Manager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97680" y="39776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3977640"/>
            <a:ext cx="5440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DFC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26480" y="3977640"/>
            <a:ext cx="73152" cy="548640"/>
          </a:xfrm>
          <a:prstGeom prst="rect">
            <a:avLst/>
          </a:prstGeom>
          <a:solidFill>
            <a:srgbClr val="3A506B"/>
          </a:solidFill>
          <a:ln w="12700">
            <a:solidFill>
              <a:srgbClr val="3A50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39776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 Ministry Reporting Dashboard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875520" y="39776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663440"/>
            <a:ext cx="5440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DFC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663440"/>
            <a:ext cx="73152" cy="548640"/>
          </a:xfrm>
          <a:prstGeom prst="rect">
            <a:avLst/>
          </a:prstGeom>
          <a:solidFill>
            <a:srgbClr val="3A506B"/>
          </a:solidFill>
          <a:ln w="12700">
            <a:solidFill>
              <a:srgbClr val="3A50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6634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DigiLocker Prescription Storage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297680" y="46634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26480" y="4663440"/>
            <a:ext cx="5440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DFC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26480" y="4663440"/>
            <a:ext cx="73152" cy="548640"/>
          </a:xfrm>
          <a:prstGeom prst="rect">
            <a:avLst/>
          </a:prstGeom>
          <a:solidFill>
            <a:srgbClr val="3A506B"/>
          </a:solidFill>
          <a:ln w="12700">
            <a:solidFill>
              <a:srgbClr val="3A50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55080" y="46634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e-Sanjeevani Bridge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875520" y="46634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6537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AYUZEE AI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991295" y="6537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  · 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  ·  PLANNED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A3A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Hospital Management (HIMS)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1097280" cy="45720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2402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hospital OS for AYUSH clinics, Panchakarma centers and integrative hospitals.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5440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DF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291840"/>
            <a:ext cx="73152" cy="548640"/>
          </a:xfrm>
          <a:prstGeom prst="rect">
            <a:avLst/>
          </a:prstGeom>
          <a:solidFill>
            <a:srgbClr val="3A506B"/>
          </a:solidFill>
          <a:ln w="12700">
            <a:solidFill>
              <a:srgbClr val="3A50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2918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 / IPD Management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680" y="32918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3291840"/>
            <a:ext cx="5440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DFC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3291840"/>
            <a:ext cx="73152" cy="548640"/>
          </a:xfrm>
          <a:prstGeom prst="rect">
            <a:avLst/>
          </a:prstGeom>
          <a:solidFill>
            <a:srgbClr val="3A506B"/>
          </a:solidFill>
          <a:ln w="12700">
            <a:solidFill>
              <a:srgbClr val="3A50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32918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&amp; Room Allocation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875520" y="32918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5440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DFC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977640"/>
            <a:ext cx="73152" cy="548640"/>
          </a:xfrm>
          <a:prstGeom prst="rect">
            <a:avLst/>
          </a:prstGeom>
          <a:solidFill>
            <a:srgbClr val="3A506B"/>
          </a:solidFill>
          <a:ln w="12700">
            <a:solidFill>
              <a:srgbClr val="3A50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9776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&amp; Inventory (batch, expiry)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97680" y="39776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3977640"/>
            <a:ext cx="5440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DFC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26480" y="3977640"/>
            <a:ext cx="73152" cy="548640"/>
          </a:xfrm>
          <a:prstGeom prst="rect">
            <a:avLst/>
          </a:prstGeom>
          <a:solidFill>
            <a:srgbClr val="3A506B"/>
          </a:solidFill>
          <a:ln w="12700">
            <a:solidFill>
              <a:srgbClr val="3A50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39776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Billing, GST &amp; Insurance Claims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875520" y="39776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663440"/>
            <a:ext cx="5440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DFC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663440"/>
            <a:ext cx="73152" cy="548640"/>
          </a:xfrm>
          <a:prstGeom prst="rect">
            <a:avLst/>
          </a:prstGeom>
          <a:solidFill>
            <a:srgbClr val="3A506B"/>
          </a:solidFill>
          <a:ln w="12700">
            <a:solidFill>
              <a:srgbClr val="3A50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6634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Roster &amp; Payroll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297680" y="46634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26480" y="4663440"/>
            <a:ext cx="5440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DFC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26480" y="4663440"/>
            <a:ext cx="73152" cy="548640"/>
          </a:xfrm>
          <a:prstGeom prst="rect">
            <a:avLst/>
          </a:prstGeom>
          <a:solidFill>
            <a:srgbClr val="3A506B"/>
          </a:solidFill>
          <a:ln w="12700">
            <a:solidFill>
              <a:srgbClr val="3A50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55080" y="46634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&amp; Imaging Module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875520" y="46634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5349240"/>
            <a:ext cx="5440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DFC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8640" y="5349240"/>
            <a:ext cx="73152" cy="548640"/>
          </a:xfrm>
          <a:prstGeom prst="rect">
            <a:avLst/>
          </a:prstGeom>
          <a:solidFill>
            <a:srgbClr val="3A506B"/>
          </a:solidFill>
          <a:ln w="12700">
            <a:solidFill>
              <a:srgbClr val="3A50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53492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&amp; Asset Management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297680" y="53492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6537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AYUZEE AI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991295" y="6537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  · 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  ·  PLANNED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A3A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AYUSH Marketplace &amp; D2C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2027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1097280" cy="45720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2402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commerce: authentic medicines, kits, devices, organic foods, B2B bulk.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5440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DF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291840"/>
            <a:ext cx="73152" cy="548640"/>
          </a:xfrm>
          <a:prstGeom prst="rect">
            <a:avLst/>
          </a:prstGeom>
          <a:solidFill>
            <a:srgbClr val="3A506B"/>
          </a:solidFill>
          <a:ln w="12700">
            <a:solidFill>
              <a:srgbClr val="3A50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2918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Brand Storefronts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680" y="32918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3291840"/>
            <a:ext cx="5440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DFC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3291840"/>
            <a:ext cx="73152" cy="548640"/>
          </a:xfrm>
          <a:prstGeom prst="rect">
            <a:avLst/>
          </a:prstGeom>
          <a:solidFill>
            <a:srgbClr val="3A506B"/>
          </a:solidFill>
          <a:ln w="12700">
            <a:solidFill>
              <a:srgbClr val="3A50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32918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&amp; Refill Engine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875520" y="32918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5440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DFC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977640"/>
            <a:ext cx="73152" cy="548640"/>
          </a:xfrm>
          <a:prstGeom prst="rect">
            <a:avLst/>
          </a:prstGeom>
          <a:solidFill>
            <a:srgbClr val="3A506B"/>
          </a:solidFill>
          <a:ln w="12700">
            <a:solidFill>
              <a:srgbClr val="3A50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9776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Cold-chain &amp; Pan-India Logistics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97680" y="39776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3977640"/>
            <a:ext cx="5440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DFC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26480" y="3977640"/>
            <a:ext cx="73152" cy="548640"/>
          </a:xfrm>
          <a:prstGeom prst="rect">
            <a:avLst/>
          </a:prstGeom>
          <a:solidFill>
            <a:srgbClr val="3A506B"/>
          </a:solidFill>
          <a:ln w="12700">
            <a:solidFill>
              <a:srgbClr val="3A50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39776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Wholesale &amp; Tendering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875520" y="39776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663440"/>
            <a:ext cx="5440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DFC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663440"/>
            <a:ext cx="73152" cy="548640"/>
          </a:xfrm>
          <a:prstGeom prst="rect">
            <a:avLst/>
          </a:prstGeom>
          <a:solidFill>
            <a:srgbClr val="3A506B"/>
          </a:solidFill>
          <a:ln w="12700">
            <a:solidFill>
              <a:srgbClr val="3A50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6634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 Devices (Nasya, Shirodhara kits)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297680" y="46634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26480" y="4663440"/>
            <a:ext cx="5440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DFC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26480" y="4663440"/>
            <a:ext cx="73152" cy="548640"/>
          </a:xfrm>
          <a:prstGeom prst="rect">
            <a:avLst/>
          </a:prstGeom>
          <a:solidFill>
            <a:srgbClr val="3A506B"/>
          </a:solidFill>
          <a:ln w="12700">
            <a:solidFill>
              <a:srgbClr val="3A50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55080" y="46634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Food &amp; Nutraceuticals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875520" y="46634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6537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AYUZEE AI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991295" y="6537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  · 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P7  ·  PLANNED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A3A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Education &amp; Research Cloud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2027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1097280" cy="45720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2402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EdTech + research network for BAMS/BHMS students, PG aspirants, and researchers.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5440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DF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291840"/>
            <a:ext cx="73152" cy="548640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2918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Classes &amp; Webinars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680" y="32918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3291840"/>
            <a:ext cx="5440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DFC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3291840"/>
            <a:ext cx="73152" cy="548640"/>
          </a:xfrm>
          <a:prstGeom prst="rect">
            <a:avLst/>
          </a:prstGeom>
          <a:solidFill>
            <a:srgbClr val="3A506B"/>
          </a:solidFill>
          <a:ln w="12700">
            <a:solidFill>
              <a:srgbClr val="3A50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32918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 Entrance Prep (AIAPGET)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875520" y="32918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5440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DFC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977640"/>
            <a:ext cx="73152" cy="548640"/>
          </a:xfrm>
          <a:prstGeom prst="rect">
            <a:avLst/>
          </a:prstGeom>
          <a:solidFill>
            <a:srgbClr val="3A506B"/>
          </a:solidFill>
          <a:ln w="12700">
            <a:solidFill>
              <a:srgbClr val="3A50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9776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Library (1L+ anonymised cases)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97680" y="39776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3977640"/>
            <a:ext cx="5440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DFC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26480" y="3977640"/>
            <a:ext cx="73152" cy="548640"/>
          </a:xfrm>
          <a:prstGeom prst="rect">
            <a:avLst/>
          </a:prstGeom>
          <a:solidFill>
            <a:srgbClr val="3A506B"/>
          </a:solidFill>
          <a:ln w="12700">
            <a:solidFill>
              <a:srgbClr val="3A50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39776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Collaboration Network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875520" y="39776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663440"/>
            <a:ext cx="5440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DFC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663440"/>
            <a:ext cx="73152" cy="548640"/>
          </a:xfrm>
          <a:prstGeom prst="rect">
            <a:avLst/>
          </a:prstGeom>
          <a:solidFill>
            <a:srgbClr val="3A506B"/>
          </a:solidFill>
          <a:ln w="12700">
            <a:solidFill>
              <a:srgbClr val="3A50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6634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Certificates on-chain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297680" y="46634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26480" y="4663440"/>
            <a:ext cx="5440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DFC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26480" y="4663440"/>
            <a:ext cx="73152" cy="548640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55080" y="46634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&amp; Job Marketplace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875520" y="46634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6537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AYUZEE AI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991295" y="6537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  · 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P8  ·  PLANNED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A3A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 Expansion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2027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1097280" cy="45720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2402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Indian AYUSH to UAE, UK, USA, SEA via teleconsult and verified exports.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5440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DF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291840"/>
            <a:ext cx="73152" cy="548640"/>
          </a:xfrm>
          <a:prstGeom prst="rect">
            <a:avLst/>
          </a:prstGeom>
          <a:solidFill>
            <a:srgbClr val="3A506B"/>
          </a:solidFill>
          <a:ln w="12700">
            <a:solidFill>
              <a:srgbClr val="3A50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2918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Multi-currency &amp; Multi-language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680" y="32918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3291840"/>
            <a:ext cx="5440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DFC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3291840"/>
            <a:ext cx="73152" cy="548640"/>
          </a:xfrm>
          <a:prstGeom prst="rect">
            <a:avLst/>
          </a:prstGeom>
          <a:solidFill>
            <a:srgbClr val="3A506B"/>
          </a:solidFill>
          <a:ln w="12700">
            <a:solidFill>
              <a:srgbClr val="3A50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32918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Teleconsultation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875520" y="32918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5440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DFC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977640"/>
            <a:ext cx="73152" cy="548640"/>
          </a:xfrm>
          <a:prstGeom prst="rect">
            <a:avLst/>
          </a:prstGeom>
          <a:solidFill>
            <a:srgbClr val="3A506B"/>
          </a:solidFill>
          <a:ln w="12700">
            <a:solidFill>
              <a:srgbClr val="3A50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9776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/ EU Compliance for Exports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97680" y="39776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3977640"/>
            <a:ext cx="5440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DFC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26480" y="3977640"/>
            <a:ext cx="73152" cy="548640"/>
          </a:xfrm>
          <a:prstGeom prst="rect">
            <a:avLst/>
          </a:prstGeom>
          <a:solidFill>
            <a:srgbClr val="3A506B"/>
          </a:solidFill>
          <a:ln w="12700">
            <a:solidFill>
              <a:srgbClr val="3A50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39776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Diaspora Wellness Subscriptions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875520" y="39776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663440"/>
            <a:ext cx="5440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DFC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663440"/>
            <a:ext cx="73152" cy="548640"/>
          </a:xfrm>
          <a:prstGeom prst="rect">
            <a:avLst/>
          </a:prstGeom>
          <a:solidFill>
            <a:srgbClr val="3A506B"/>
          </a:solidFill>
          <a:ln w="12700">
            <a:solidFill>
              <a:srgbClr val="3A50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6634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Clinics Abroad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297680" y="46634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AYUZEE AI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991295" y="6537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  · 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  ·  VISION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A3A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Ayuzee AI Super-Intelligence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1097280" cy="45720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2402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AYUSH AI for every Indian — predictive, preventive, prakriti-aware.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5440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DF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291840"/>
            <a:ext cx="73152" cy="548640"/>
          </a:xfrm>
          <a:prstGeom prst="rect">
            <a:avLst/>
          </a:prstGeom>
          <a:solidFill>
            <a:srgbClr val="7A4FB7"/>
          </a:solidFill>
          <a:ln w="12700">
            <a:solidFill>
              <a:srgbClr val="7A4F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2918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Prakriti Lifelong Twin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680" y="32918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A4F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3291840"/>
            <a:ext cx="5440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DFC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3291840"/>
            <a:ext cx="73152" cy="548640"/>
          </a:xfrm>
          <a:prstGeom prst="rect">
            <a:avLst/>
          </a:prstGeom>
          <a:solidFill>
            <a:srgbClr val="7A4FB7"/>
          </a:solidFill>
          <a:ln w="12700">
            <a:solidFill>
              <a:srgbClr val="7A4F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32918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Disease Risk (Ayur + ML)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875520" y="32918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A4F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5440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DFC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977640"/>
            <a:ext cx="73152" cy="548640"/>
          </a:xfrm>
          <a:prstGeom prst="rect">
            <a:avLst/>
          </a:prstGeom>
          <a:solidFill>
            <a:srgbClr val="7A4FB7"/>
          </a:solidFill>
          <a:ln w="12700">
            <a:solidFill>
              <a:srgbClr val="7A4FB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9776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Home Integration (sleep, vitals)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97680" y="39776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A4F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3977640"/>
            <a:ext cx="5440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DFC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26480" y="3977640"/>
            <a:ext cx="73152" cy="548640"/>
          </a:xfrm>
          <a:prstGeom prst="rect">
            <a:avLst/>
          </a:prstGeom>
          <a:solidFill>
            <a:srgbClr val="7A4FB7"/>
          </a:solidFill>
          <a:ln w="12700">
            <a:solidFill>
              <a:srgbClr val="7A4FB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39776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Health Graph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875520" y="39776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A4F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663440"/>
            <a:ext cx="5440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DFC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663440"/>
            <a:ext cx="73152" cy="548640"/>
          </a:xfrm>
          <a:prstGeom prst="rect">
            <a:avLst/>
          </a:prstGeom>
          <a:solidFill>
            <a:srgbClr val="7A4FB7"/>
          </a:solidFill>
          <a:ln w="12700">
            <a:solidFill>
              <a:srgbClr val="7A4FB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6634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Yoga &amp; Diet Coach (vision-based)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297680" y="46634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A4F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26480" y="4663440"/>
            <a:ext cx="5440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DFC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26480" y="4663440"/>
            <a:ext cx="73152" cy="548640"/>
          </a:xfrm>
          <a:prstGeom prst="rect">
            <a:avLst/>
          </a:prstGeom>
          <a:solidFill>
            <a:srgbClr val="7A4FB7"/>
          </a:solidFill>
          <a:ln w="12700">
            <a:solidFill>
              <a:srgbClr val="7A4FB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55080" y="46634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Ayuzee Genome × Dosha Analysis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875520" y="46634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A4F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6537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AYUZEE AI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991295" y="6537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  · 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3A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37744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Powered by Ayuzee AI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640080" y="3566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D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Integrative AYUSH Intelligence Platform — built in India for the world.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4297680"/>
            <a:ext cx="1371600" cy="45720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434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ayuzee.com  ·  partnerships@ayuzee.com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2026-04-26T18:54:21Z</dcterms:created>
  <dcterms:modified xsi:type="dcterms:W3CDTF">2026-04-26T18:54:21Z</dcterms:modified>
</cp:coreProperties>
</file>